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FULL-STACK CAPSTONE PROJECT DEFENSE</a:t>
            </a:r>
          </a:p>
          <a:p>
            <a:pPr algn="ctr">
              <a:spcBef>
                <a:spcPts val="1000"/>
              </a:spcBef>
              <a:defRPr sz="4400" b="1">
                <a:solidFill>
                  <a:srgbClr val="F8FAFC"/>
                </a:solidFill>
              </a:defRPr>
            </a:pPr>
            <a:r>
              <a:t>PathFinder Nexus</a:t>
            </a:r>
          </a:p>
          <a:p>
            <a:pPr algn="ctr">
              <a:spcBef>
                <a:spcPts val="1000"/>
              </a:spcBef>
              <a:defRPr sz="1800">
                <a:solidFill>
                  <a:srgbClr val="CBD5E1"/>
                </a:solidFill>
              </a:defRPr>
            </a:pPr>
            <a:r>
              <a:t>Autonomous, Dependency-Aware &amp; Continuously Adaptive Learning Navigation Platform</a:t>
            </a:r>
          </a:p>
          <a:p>
            <a:pPr algn="ctr">
              <a:spcBef>
                <a:spcPts val="2500"/>
              </a:spcBef>
              <a:defRPr sz="1300" b="1">
                <a:solidFill>
                  <a:srgbClr val="10B981"/>
                </a:solidFill>
              </a:defRPr>
            </a:pPr>
            <a:r>
              <a:t>FastAPI (Python 3.12) • PostgreSQL 16 &amp; pgvector • React 18 SPA • Google Gemini LLM</a:t>
            </a: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162 Backend Tests Passing • 100% Deterministic DAG Engine &amp; Bayesian Evidence 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01 /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Modern Online Education Fails Learners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3F5E"/>
                </a:solidFill>
              </a:defRPr>
            </a:pPr>
            <a:r>
              <a:t>01</a:t>
            </a:r>
          </a:p>
          <a:p>
            <a:pPr>
              <a:spcBef>
                <a:spcPts val="1400"/>
              </a:spcBef>
              <a:defRPr sz="1800" b="1">
                <a:solidFill>
                  <a:srgbClr val="F8FAFC"/>
                </a:solidFill>
              </a:defRPr>
            </a:pPr>
            <a:r>
              <a:t>Linear, Static Playlists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Courses assume identical starting points, forcing experienced learners through basics and abandoning beginners when advanced prerequisites are skipped.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spcBef>
                <a:spcPts val="1400"/>
              </a:spcBef>
              <a:defRPr sz="1800" b="1">
                <a:solidFill>
                  <a:srgbClr val="F8FAFC"/>
                </a:solidFill>
              </a:defRPr>
            </a:pPr>
            <a:r>
              <a:t>Hallucinating AI Chatbots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Generic LLMs invent fake URLs, fabricate invalid course sequences, and lack relational database grounding and dependency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03</a:t>
            </a:r>
          </a:p>
          <a:p>
            <a:pPr>
              <a:spcBef>
                <a:spcPts val="1400"/>
              </a:spcBef>
              <a:defRPr sz="1800" b="1">
                <a:solidFill>
                  <a:srgbClr val="F8FAFC"/>
                </a:solidFill>
              </a:defRPr>
            </a:pPr>
            <a:r>
              <a:t>Zero Adaptive Feedback Loop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When learners fail assessments, traditional platforms do not dynamically restructure roadmaps or deliver prerequisite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02 / ARCHITECTURAL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PathFinder Nexus Architectural Creed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“RAG retrieves. LLMs explain. The Database grounds. Deterministic engines decide.”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51460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RAG (pgvector)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Retrieves verified educational resources via 1536-dim cosine similarity.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840480"/>
            <a:ext cx="251460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023360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LLM (Gemini)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Synthesizes clear explanations, goal summaries, and interactive tutor answers.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251460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Database (Postgres)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Authoritative single source of truth for roles, skills, questions, and roadmaps.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840480"/>
            <a:ext cx="251460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4023360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Deterministic Engines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Topological Kahn DAG, 6-factor ranking, and Bayesian evidence fusion.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03 / SYSTEM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Modular Monolith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Frontend Client (SPA)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React 18 + TypeScript + Vite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Tailwind CSS Dark Mode &amp; Glassmorphism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Client-Side JWT Auth with auto-refresh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Netlify Edge CDN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FastAPI Backend Core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Python 3.12 Modular Monolith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Clean Architecture (Routers/Services/Repos)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Argon2id Password Security + Correlation IDs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Render Cloud Web Service (Uvicorn)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Data &amp; AI Layer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PostgreSQL 16 with pgvector Extension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22 Normalized Relational Entity Tables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Google Gemini 1.5/2.0 Flash + OpenAI Embeddings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Deterministic Mock Fallback Provider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04 / ENGINE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AI Goal Understanding &amp; Grounded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Natural Language Input Example:</a:t>
            </a:r>
          </a:p>
          <a:p>
            <a:pPr>
              <a:spcBef>
                <a:spcPts val="800"/>
              </a:spcBef>
              <a:defRPr sz="1300" i="1">
                <a:solidFill>
                  <a:srgbClr val="F8FAFC"/>
                </a:solidFill>
              </a:defRPr>
            </a:pPr>
            <a:r>
              <a:t>“I want to become an AI Engineer specializing in LLMs &amp; RAG systems within 12 weeks with 2 hours of daily study.”</a:t>
            </a:r>
          </a:p>
          <a:p>
            <a:pPr>
              <a:spcBef>
                <a:spcPts val="1600"/>
              </a:spcBef>
              <a:defRPr sz="1400" b="1">
                <a:solidFill>
                  <a:srgbClr val="10B981"/>
                </a:solidFill>
              </a:defRPr>
            </a:pPr>
            <a:r>
              <a:t>Structured Pydantic Extraction Output: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Target Role: AI/ML Engineer (Canonical Match: 95%)</a:t>
            </a:r>
            <a:br/>
            <a:r>
              <a:t>• Timeline: 12 Weeks</a:t>
            </a:r>
            <a:br/>
            <a:r>
              <a:t>• Daily Commitment: 2.0 Hours</a:t>
            </a:r>
            <a:br/>
            <a:r>
              <a:t>• Prior Skills Identified: Python (Intermediate), Git (Basic)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Canonical Role Grounding Pipeline: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1. Raw Prompt Sanitization &amp; Delimiter Tagging</a:t>
            </a:r>
            <a:br/>
            <a:r>
              <a:t>2. Gemini Structured JSON Mode with Pydantic Schema Validation</a:t>
            </a:r>
            <a:br/>
            <a:r>
              <a:t>3. Database Lookup: Matches against 10 Canonical Roles</a:t>
            </a:r>
            <a:br/>
            <a:r>
              <a:t>4. Unknown Role Detection: Returns AMBIGUOUS with suggested roles</a:t>
            </a:r>
            <a:br/>
            <a:r>
              <a:t>5. Zero Hallucination Guarantee: Unverified roles are never persisted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05 / ENGINE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Dynamic Skill Gap &amp; Role Readiness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Zero Static Storage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Skill gaps are calculated dynamically upon query. Eliminates stale cached tables and guarantees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Gap Formulation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Gap = max(Required - LearnerProficiency, 0)</a:t>
            </a:r>
            <a:br/>
            <a:r>
              <a:t>Strictly non-negative delta for every skill required by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Role Readiness Percentage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Readiness = (Σ Current_w / Σ Required_w) × 100</a:t>
            </a:r>
            <a:br/>
            <a:r>
              <a:t>Weighted importance factor ensures critical skills drive readiness.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06 / ENGINE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Topological Roadmap Engine (Kahn's DAG Algorithm)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Prerequisite-Aware Directed Acyclic Graph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Every skill node defines strict prerequisites in the database</a:t>
            </a:r>
            <a:br/>
            <a:r>
              <a:t>• In-Degree topological sort ensures prerequisite skills strictly precede dependent topics</a:t>
            </a:r>
            <a:br/>
            <a:r>
              <a:t>• Cycle detection prevents infinite dependency loops</a:t>
            </a:r>
            <a:br/>
            <a:r>
              <a:t>• Automatic locking of downstream modules until prerequisites achieve passing mastery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Kahn's Algorithm Execution Workflow: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1. Calculate in-degree for all required skills</a:t>
            </a:r>
            <a:br/>
            <a:r>
              <a:t>2. Initialize queue with all in-degree == 0 nodes</a:t>
            </a:r>
            <a:br/>
            <a:r>
              <a:t>3. Pop node u -&gt; append to roadmap sequence</a:t>
            </a:r>
            <a:br/>
            <a:r>
              <a:t>4. Decrement in-degree for all outgoing neighbors v</a:t>
            </a:r>
            <a:br/>
            <a:r>
              <a:t>5. If in-degree[v] == 0, push v to queue</a:t>
            </a:r>
            <a:br/>
            <a:r>
              <a:t>6. Verify all nodes processed; assign milestones &amp; weeks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07 / ENGINE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Normalized 6-Factor Explainable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Score = 0.30(Gap) + 0.20(Prereq) + 0.15(Goal) + 0.15(Diff) + 0.10(Time) + 0.10(Pref)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383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30% — Skill Gap Weight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Prioritizes resources targeting the largest deficiency.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017520"/>
            <a:ext cx="3383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154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</a:defRPr>
            </a:pPr>
            <a:r>
              <a:t>20% — Prereq Readiness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Ensures learner is prepared for resource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017520"/>
            <a:ext cx="3383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154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15% — Goal Alignment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Matches specific career target role curriculum.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3383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15% — Difficulty Match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Aligns with learner's current experience level.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663440"/>
            <a:ext cx="3383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10% — Time Investment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Fits daily and weekly study budget.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663440"/>
            <a:ext cx="33832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800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10% — Format Preference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Balances video, article, and interactive preferences.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08 / ENGINE 5 &amp;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Sanitized Assessments &amp; Bayesian Evidence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Anti-Cheat Sanitized Delivery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Correct answers and explanation rationales are NEVER sent to the client browser</a:t>
            </a:r>
            <a:br/>
            <a:r>
              <a:t>• Client receives only question IDs, question text, and option keys</a:t>
            </a:r>
            <a:br/>
            <a:r>
              <a:t>• Authoritative grading occurs strictly on the server</a:t>
            </a:r>
            <a:br/>
            <a:r>
              <a:t>• Prevents browser inspection exploits and ensures grading integrity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Bayesian-Inspired Evidence Fusion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Mastery Formula:</a:t>
            </a:r>
            <a:br/>
            <a:r>
              <a:t>P_new = round(0.30 × P_old + 0.70 × AssessmentScore, 2)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Prevents single-test volatility while rewarding demonstrated competence</a:t>
            </a:r>
            <a:br/>
            <a:r>
              <a:t>• Dynamic mastery thresholding: Mastery (≥80%), Continue (60-79%), Reinforce (&lt;60%)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09 / ADAPTIVE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Closed-Loop Adaptive Interventions &amp; Next Best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Score &lt; 40% — Critical Gap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</a:defRPr>
            </a:pPr>
            <a:r>
              <a:t>Foundational Lock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Locks dependent roadmap items, schedules foundational refresher resources, and updates Next Best Action to reinforce fundamentals.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40% ≤ Score &lt; 80% — Partial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</a:defRPr>
            </a:pPr>
            <a:r>
              <a:t>Targeted Reinforcement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Generates targeted practice resources while keeping milestone active for revision.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Score ≥ 80% — Mastery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</a:defRPr>
            </a:pPr>
            <a:r>
              <a:t>Milestone Unlocked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Marks milestone completed, updates topological graph, and unlocks downstream advanced milestones.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10 / ENGINE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Grounded RAG Knowledge Assistant &amp; Citation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pgvector Semantic Search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1536-dimensional embeddings for all curated catalog resources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Cosine similarity threshold cutoff (≥ 0.50)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Top-K semantic context retrieval directly from 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Anti-Hallucination Guardrails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Retrieved database content wrapped in strict XML security delimiters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LLM must cite authentic resource URLs present in retrieved context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Zero-context fallback: refuses to fabricate imaginary resources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11 /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Relational Database Schema (22 Core Tables)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Auth &amp; Users</a:t>
            </a:r>
          </a:p>
          <a:p>
            <a:pPr>
              <a:spcBef>
                <a:spcPts val="1400"/>
              </a:spcBef>
              <a:defRPr sz="1200">
                <a:solidFill>
                  <a:srgbClr val="CBD5E1"/>
                </a:solidFill>
              </a:defRPr>
            </a:pPr>
            <a:r>
              <a:t>users</a:t>
            </a:r>
            <a:br/>
            <a:r>
              <a:t>learner_profiles</a:t>
            </a:r>
            <a:br/>
            <a:r>
              <a:t>learner_skills</a:t>
            </a:r>
            <a:br/>
            <a:r>
              <a:t>user_preferences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Catalog &amp; Graph</a:t>
            </a:r>
          </a:p>
          <a:p>
            <a:pPr>
              <a:spcBef>
                <a:spcPts val="1400"/>
              </a:spcBef>
              <a:defRPr sz="1200">
                <a:solidFill>
                  <a:srgbClr val="CBD5E1"/>
                </a:solidFill>
              </a:defRPr>
            </a:pPr>
            <a:r>
              <a:t>roles</a:t>
            </a:r>
            <a:br/>
            <a:r>
              <a:t>skills</a:t>
            </a:r>
            <a:br/>
            <a:r>
              <a:t>skill_prerequisites</a:t>
            </a:r>
            <a:br/>
            <a:r>
              <a:t>role_skills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Roadmaps &amp; Learning</a:t>
            </a:r>
          </a:p>
          <a:p>
            <a:pPr>
              <a:spcBef>
                <a:spcPts val="1400"/>
              </a:spcBef>
              <a:defRPr sz="1200">
                <a:solidFill>
                  <a:srgbClr val="CBD5E1"/>
                </a:solidFill>
              </a:defRPr>
            </a:pPr>
            <a:r>
              <a:t>roadmaps</a:t>
            </a:r>
            <a:br/>
            <a:r>
              <a:t>roadmap_items</a:t>
            </a:r>
            <a:br/>
            <a:r>
              <a:t>resources</a:t>
            </a:r>
            <a:br/>
            <a:r>
              <a:t>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Assessments &amp; RAG</a:t>
            </a:r>
          </a:p>
          <a:p>
            <a:pPr>
              <a:spcBef>
                <a:spcPts val="1400"/>
              </a:spcBef>
              <a:defRPr sz="1200">
                <a:solidFill>
                  <a:srgbClr val="CBD5E1"/>
                </a:solidFill>
              </a:defRPr>
            </a:pPr>
            <a:r>
              <a:t>assessments</a:t>
            </a:r>
            <a:br/>
            <a:r>
              <a:t>assessment_questions</a:t>
            </a:r>
            <a:br/>
            <a:r>
              <a:t>submissions</a:t>
            </a:r>
            <a:br/>
            <a:r>
              <a:t>chat_messages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12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Automated Testing &amp; Benchmark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162 Tests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Backend Pytest Suite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100% passing across auth, DAG roadmaps, recommendations, evidence fusion, and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0 Errors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TypeScript Strict Build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Zero TypeScript compilation errors with optimized Vite production bundle.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100% Safe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Deterministic Fallback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System operates smoothly even when cloud AI rate limits hit or in offline mode.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13 /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Production Cloud Deployment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Frontend: Netlify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React 18 SPA on Global Edge CDN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Automated netlify.toml headers &amp; caching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_redirects file for SPA client-side deep linking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Command: npm run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Backend: Render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FastAPI Web Service running Uvicorn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render.yaml blueprint configuration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Dynamic CORS regex matching Netlify previews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Health Check Probes: /health &amp; /health/ready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Database: PostgreSQL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Cloud PostgreSQL 16 Instance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Automated migrations via deploy_init.py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Idempotent catalog seeding on startup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pgvector similarity indexing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CONCLUSION &amp; LIVE DEMO</a:t>
            </a:r>
          </a:p>
          <a:p>
            <a:pPr algn="ctr">
              <a:spcBef>
                <a:spcPts val="800"/>
              </a:spcBef>
              <a:defRPr sz="3800" b="1">
                <a:solidFill>
                  <a:srgbClr val="F8FAFC"/>
                </a:solidFill>
              </a:defRPr>
            </a:pPr>
            <a:r>
              <a:t>PathFinder Nexus</a:t>
            </a:r>
          </a:p>
          <a:p>
            <a:pPr algn="ctr">
              <a:spcBef>
                <a:spcPts val="1000"/>
              </a:spcBef>
              <a:defRPr sz="1600" i="1">
                <a:solidFill>
                  <a:srgbClr val="06B6D4"/>
                </a:solidFill>
              </a:defRPr>
            </a:pPr>
            <a:r>
              <a:t>“Transforming natural-language ambition into deterministic, adaptive mastery.”</a:t>
            </a:r>
          </a:p>
          <a:p>
            <a:pPr algn="ctr">
              <a:spcBef>
                <a:spcPts val="2400"/>
              </a:spcBef>
              <a:defRPr sz="1300" b="1">
                <a:solidFill>
                  <a:srgbClr val="CBD5E1"/>
                </a:solidFill>
              </a:defRPr>
            </a:pPr>
            <a:r>
              <a:t>✓ 7 Fully Integrated Deterministic Engines  |  ✓ 162 Passed Tests  |  ✓ Deployment-Ready</a:t>
            </a:r>
          </a:p>
          <a:p>
            <a:pPr algn="ctr">
              <a:spcBef>
                <a:spcPts val="1600"/>
              </a:spcBef>
              <a:defRPr sz="1400">
                <a:solidFill>
                  <a:srgbClr val="14B8A6"/>
                </a:solidFill>
              </a:defRPr>
            </a:pPr>
            <a:r>
              <a:t>Thank you! We are ready for live demonstration &amp;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